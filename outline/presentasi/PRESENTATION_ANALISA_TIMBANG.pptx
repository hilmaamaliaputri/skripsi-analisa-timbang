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457200" cy="137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74320"/>
            <a:ext cx="457200" cy="13716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74320"/>
            <a:ext cx="457200" cy="137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274320"/>
            <a:ext cx="457200" cy="13716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274320"/>
            <a:ext cx="457200" cy="137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274320"/>
            <a:ext cx="457200" cy="13716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274320"/>
            <a:ext cx="457200" cy="137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274320"/>
            <a:ext cx="457200" cy="13716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74320"/>
            <a:ext cx="457200" cy="137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74320"/>
            <a:ext cx="457200" cy="13716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274320"/>
            <a:ext cx="457200" cy="137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274320"/>
            <a:ext cx="457200" cy="13716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274320"/>
            <a:ext cx="457200" cy="137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74320"/>
            <a:ext cx="457200" cy="13716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onsolas"/>
              </a:rPr>
              <a:t>// PROJECT STATUS · 1 MEI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0" b="1">
                <a:solidFill>
                  <a:srgbClr val="E5E7EB"/>
                </a:solidFill>
                <a:latin typeface="Calibri"/>
              </a:rPr>
              <a:t>ANALISA TIMBANG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BBF24"/>
                </a:solidFill>
                <a:latin typeface="Calibri"/>
              </a:rPr>
              <a:t>Mobile OCR untuk Timbangan Industrial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E5E7EB"/>
                </a:solidFill>
                <a:latin typeface="Calibri"/>
              </a:rPr>
              <a:t>Status Pengerjaan &amp; Strategi Maju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572000"/>
            <a:ext cx="1033272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STATUS RINGKAS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onsolas"/>
              </a:rPr>
              <a:t>✓ POC 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406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Aplikasi PWA siap diakses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1206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onsolas"/>
              </a:rPr>
              <a:t>✓ INFRASTRUKTUR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54406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Pipeline AI training siap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1206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onsolas"/>
              </a:rPr>
              <a:t>⚠ AKURASI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4406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Butuh data lapangan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51206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284C7"/>
                </a:solidFill>
                <a:latin typeface="Consolas"/>
              </a:rPr>
              <a:t>⏭ NEXT STEP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54406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5E7EB"/>
                </a:solidFill>
                <a:latin typeface="Calibri"/>
              </a:rPr>
              <a:t>Strategi hybrid ditawarkan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Disusun oleh: Tim Engineering · 1 Mei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1828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02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ANALISA TIMBANG · Mobile OCR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RINGKASAN EKSEKUTIF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B0D"/>
                </a:solidFill>
                <a:latin typeface="Calibri"/>
              </a:rPr>
              <a:t>Apa yang Sudah Dikerjakan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3657600" cy="393192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365760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0">
                <a:solidFill>
                  <a:srgbClr val="111827"/>
                </a:solidFill>
                <a:latin typeface="Calibri"/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Consolas"/>
              </a:rPr>
              <a:t>POC APLIKASI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 Aplikasi mobile (PWA) untuk 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 Capture QR + Display Timbangan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 OCR offline (Tesseract + CNN)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66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 Live di Netlify · siap dipakai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468880"/>
            <a:ext cx="3657600" cy="393192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468880"/>
            <a:ext cx="365760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697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0">
                <a:solidFill>
                  <a:srgbClr val="111827"/>
                </a:solidFill>
                <a:latin typeface="Calibri"/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832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284C7"/>
                </a:solidFill>
                <a:latin typeface="Consolas"/>
              </a:rPr>
              <a:t>AI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931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 Pipeline Python untuk training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343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 Custom CNN (CRNN + CTC)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754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 Berhasil dilatih di laptop M2 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166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 Tinggal feed data nyata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468880"/>
            <a:ext cx="3657600" cy="393192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2468880"/>
            <a:ext cx="365760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2697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0">
                <a:solidFill>
                  <a:srgbClr val="111827"/>
                </a:solidFill>
                <a:latin typeface="Calibri"/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3832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Consolas"/>
              </a:rPr>
              <a:t>DOKUMENTASI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931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 PRD, mockup 12 layar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3434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 Excel: 81 fitur, RAB, timeline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7548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 Panduan training &amp;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1663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 Spesifikasi lengkap untuk handover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1828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03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ANALISA TIMBANG · Mobile OCR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LATAR BELAKANG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B0D"/>
                </a:solidFill>
                <a:latin typeface="Calibri"/>
              </a:rPr>
              <a:t>Mengapa Project Ini?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Operator timbangan industrial perlu cara cepat dan akurat untuk mencatat hasil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5486400" cy="36576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548640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DC2626"/>
                </a:solidFill>
                <a:latin typeface="Calibri"/>
              </a:rPr>
              <a:t>❌ CARA LAMA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•  Catat manual di buku/kertas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•  Rentan salah ketik (1.0 vs 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•  Susah audit (no foto bukti)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•  Operator harus 2 tangan (pegang pulpen)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•  Data tidak real-time ke kantor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•  Angka berat tanpa ID karung jelas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560320"/>
            <a:ext cx="5486400" cy="36576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560320"/>
            <a:ext cx="548640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7432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59669"/>
                </a:solidFill>
                <a:latin typeface="Calibri"/>
              </a:rPr>
              <a:t>✓ CARA BARU (PROJECT INI)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91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•  Foto QR karung + display timbangan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033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•  AI baca angka otomatis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•  Data + foto tersimpan di HP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262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•  Auto-sync ke server saat online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37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•  Bisa kerja offline (lapangan signal lemah)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49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alibri"/>
              </a:rPr>
              <a:t>•  Audit trail lengkap (foto bukti)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1828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04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ANALISA TIMBANG · Mobile OCR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KOMPONEN 1 · POC PWA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B0D"/>
                </a:solidFill>
                <a:latin typeface="Calibri"/>
              </a:rPr>
              <a:t>Aplikasi Mobile untuk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Progressive Web App — install di HP seperti aplikasi biasa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743200" cy="868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157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0B0D"/>
                </a:solidFill>
                <a:latin typeface="Calibri"/>
              </a:rPr>
              <a:t>Login 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Session aman, persist offline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606040"/>
            <a:ext cx="2743200" cy="868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697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7157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0B0D"/>
                </a:solidFill>
                <a:latin typeface="Calibri"/>
              </a:rPr>
              <a:t>Scan QR Karung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017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Otomatis decode QR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06040"/>
            <a:ext cx="2743200" cy="868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697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59" y="27157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0B0D"/>
                </a:solidFill>
                <a:latin typeface="Calibri"/>
              </a:rPr>
              <a:t>Capture Timbangan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59" y="3017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Foto display + OCR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606040"/>
            <a:ext cx="2743200" cy="868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697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✏️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27157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0B0D"/>
                </a:solidFill>
                <a:latin typeface="Calibri"/>
              </a:rPr>
              <a:t>Manual Crop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30175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Pilih area display secara manual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66160"/>
            <a:ext cx="2743200" cy="868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657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6758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0B0D"/>
                </a:solidFill>
                <a:latin typeface="Calibri"/>
              </a:rPr>
              <a:t>Upload Image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977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Test dari foto existing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566160"/>
            <a:ext cx="2743200" cy="868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3657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6758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0B0D"/>
                </a:solidFill>
                <a:latin typeface="Calibri"/>
              </a:rPr>
              <a:t>Simpan Lokal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977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IndexedDB · 100% offline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566160"/>
            <a:ext cx="2743200" cy="868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657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59" y="36758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0B0D"/>
                </a:solidFill>
                <a:latin typeface="Calibri"/>
              </a:rPr>
              <a:t>Auto-Sync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59" y="3977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Saat online, otomatis kirim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3566160"/>
            <a:ext cx="2743200" cy="868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36576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19" y="36758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0B0D"/>
                </a:solidFill>
                <a:latin typeface="Calibri"/>
              </a:rPr>
              <a:t>Riwayat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19" y="3977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List + filter per 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526280"/>
            <a:ext cx="2743200" cy="868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6177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6360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0B0D"/>
                </a:solidFill>
                <a:latin typeface="Calibri"/>
              </a:rPr>
              <a:t>Mode Training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937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Kumpulkan data untuk AI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7560" y="4526280"/>
            <a:ext cx="2743200" cy="868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0" y="46177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46360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0B0D"/>
                </a:solidFill>
                <a:latin typeface="Calibri"/>
              </a:rPr>
              <a:t>OCR Hybrid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4937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Tesseract + Custom CNN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526280"/>
            <a:ext cx="2743200" cy="868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46177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59" y="46360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0B0D"/>
                </a:solidFill>
                <a:latin typeface="Calibri"/>
              </a:rPr>
              <a:t>Confidence Gate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59" y="4937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Auto-reject hasil &lt; 95%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98280" y="4526280"/>
            <a:ext cx="2743200" cy="868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46177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Calibri"/>
              </a:rPr>
              <a:t>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19" y="46360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0B0D"/>
                </a:solidFill>
                <a:latin typeface="Calibri"/>
              </a:rPr>
              <a:t>Export ZIP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19" y="4937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Bundle data untuk training AI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nsolas"/>
              </a:rPr>
              <a:t>✓  STATUS: LIVE DI NETLIFY · OPERATOR BISA LANGSUNG PAKAI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1828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05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ANALISA TIMBANG · Mobile OCR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CARA OPERATOR PAKAI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B0D"/>
                </a:solidFill>
                <a:latin typeface="Calibri"/>
              </a:rPr>
              <a:t>Flow Sederhana 3 Langkah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Total &lt; 30 detik per transaksi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914400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0A0B0D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49039"/>
            <a:ext cx="3474720" cy="21945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11827"/>
                </a:solidFill>
                <a:latin typeface="Calibri"/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B0D"/>
                </a:solidFill>
                <a:latin typeface="Calibri"/>
              </a:rPr>
              <a:t>SCAN QR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Operator arahkan kamera ke QR di karung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743200"/>
            <a:ext cx="914400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7432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0A0B0D"/>
                </a:solidFill>
                <a:latin typeface="Calibr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3749039"/>
            <a:ext cx="3474720" cy="21945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9319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11827"/>
                </a:solidFill>
                <a:latin typeface="Calibri"/>
              </a:rPr>
              <a:t>⚖️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5262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B0D"/>
                </a:solidFill>
                <a:latin typeface="Calibri"/>
              </a:rPr>
              <a:t>FOTO TIMBANGAN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02920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Arahkan kamera ke display angka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743200"/>
            <a:ext cx="914400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7432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0A0B0D"/>
                </a:solidFill>
                <a:latin typeface="Calibr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3749039"/>
            <a:ext cx="3474720" cy="21945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39319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111827"/>
                </a:solidFill>
                <a:latin typeface="Calibri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5262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B0D"/>
                </a:solidFill>
                <a:latin typeface="Calibri"/>
              </a:rPr>
              <a:t>REVIEW &amp; SIMPAN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02920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AI baca angka · review · simpan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30175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BBF24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0175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BBF24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D97706"/>
                </a:solidFill>
                <a:latin typeface="Calibri"/>
              </a:rPr>
              <a:t>💡  Saat operator capture, app simpan: foto QR + foto timbangan + hasil OCR + waktu + GPS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1828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06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ANALISA TIMBANG · Mobile OCR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KOMPONEN 2 · AI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B0D"/>
                </a:solidFill>
                <a:latin typeface="Calibri"/>
              </a:rPr>
              <a:t>Pipeline untuk Membuat Otak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Kumpulan script Python yang menerima data foto → menghasilkan model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2103120" cy="1828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0B0D"/>
                </a:solidFill>
                <a:latin typeface="Calibri"/>
              </a:rPr>
              <a:t>📦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A0B0D"/>
                </a:solidFill>
                <a:latin typeface="Calibri"/>
              </a:rPr>
              <a:t>Data ZIP
dari POC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743200"/>
            <a:ext cx="2103120" cy="1828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9260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0B0D"/>
                </a:solidFill>
                <a:latin typeface="Calibri"/>
              </a:rPr>
              <a:t>📋 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56616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A0B0D"/>
                </a:solidFill>
                <a:latin typeface="Calibri"/>
              </a:rPr>
              <a:t>Augment
+ Split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2743200"/>
            <a:ext cx="2103120" cy="1828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9" y="29260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0B0D"/>
                </a:solidFill>
                <a:latin typeface="Calibri"/>
              </a:rPr>
              <a:t>🧠 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356616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A0B0D"/>
                </a:solidFill>
                <a:latin typeface="Calibri"/>
              </a:rPr>
              <a:t>CNN Belajar
50 epoch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59" y="2743200"/>
            <a:ext cx="2103120" cy="1828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799" y="29260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0B0D"/>
                </a:solidFill>
                <a:latin typeface="Calibri"/>
              </a:rPr>
              <a:t>✅ 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799" y="356616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0A0B0D"/>
                </a:solidFill>
                <a:latin typeface="Calibri"/>
              </a:rPr>
              <a:t>Test
Akurasi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2743200"/>
            <a:ext cx="2103120" cy="1828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19" y="29260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📤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356616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Model
.onnx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329184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29184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79" y="329184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291840"/>
            <a:ext cx="365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46320"/>
            <a:ext cx="11247120" cy="146304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983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onsolas"/>
              </a:rPr>
              <a:t>STATUS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3492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✓  Pipeline lengkap &amp; teruji (script: prepare, train, evaluate, predict, export)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596127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✓  Sudah dilatih dengan 1.000 sample sintetis di laptop M2 Pro (~2.5 jam training)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43016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✓  Berhasil ekspor ke format .onnx (siap pakai di aplikasi POC)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089904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⏳  Tinggal: tunggu data nyata dari lapangan untuk training final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1828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07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ANALISA TIMBANG · Mobile OCR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KOMPONEN 3 · DOKUMENTASI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B0D"/>
                </a:solidFill>
                <a:latin typeface="Calibri"/>
              </a:rPr>
              <a:t>Lengkap &amp; Siap Handover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5669280" cy="822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B0D"/>
                </a:solidFill>
                <a:latin typeface="Calibri"/>
              </a:rPr>
              <a:t>📄 PRD.md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7157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20+ halaman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Spesifikasi produk lengkap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   81 fitur, persona,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606040"/>
            <a:ext cx="5669280" cy="822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B0D"/>
                </a:solidFill>
                <a:latin typeface="Calibri"/>
              </a:rPr>
              <a:t>🎨 mockup.html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7157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Interactive 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718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Visual design 12 layar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546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   Dark mode, design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5669280" cy="822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B0D"/>
                </a:solidFill>
                <a:latin typeface="Calibri"/>
              </a:rPr>
              <a:t>📊 Feature_List.xlsx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6301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7 sheet · 81 fitur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862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Excel multi-sheet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   Timeline + RAB + estimasi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520440"/>
            <a:ext cx="5669280" cy="822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611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B0D"/>
                </a:solidFill>
                <a:latin typeface="Calibri"/>
              </a:rPr>
              <a:t>🧪 SPEC.md (POC)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6301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9 section · 24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8862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Spec validation POC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690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   Test scenario + criteria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5669280" cy="822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2627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B0D"/>
                </a:solidFill>
                <a:latin typeface="Calibri"/>
              </a:rPr>
              <a:t>🏗️ TRAINING.md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5445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Hands-on guide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006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Panduan training step-by-step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83479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   Setup, hyperparameter, troubleshoot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434840"/>
            <a:ext cx="5669280" cy="822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52627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B0D"/>
                </a:solidFill>
                <a:latin typeface="Calibri"/>
              </a:rPr>
              <a:t>🚀 DEPLOYMENT.md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45445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Code + checklist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8006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Cara deploy model ke POC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983479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   ONNX integration code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349240"/>
            <a:ext cx="5669280" cy="822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44067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B0D"/>
                </a:solidFill>
                <a:latin typeface="Calibri"/>
              </a:rPr>
              <a:t>🔬 SYNTHETIC_BASELINE_REPORT.md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4589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Data + insights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7150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Report hasil training awal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97879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   Konklusi sanity check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5349240"/>
            <a:ext cx="5669280" cy="822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44067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0B0D"/>
                </a:solidFill>
                <a:latin typeface="Calibri"/>
              </a:rPr>
              <a:t>📐 Mockup PNG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54589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onsolas"/>
              </a:rPr>
              <a:t>3 file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71500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Reference image awal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897879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   Computer vision concept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1828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08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ANALISA TIMBANG · Mobile OCR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TANTANGAN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B0D"/>
                </a:solidFill>
                <a:latin typeface="Calibri"/>
              </a:rPr>
              <a:t>Akurasi OCR Belum Mencapai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Constraint: tidak boleh input manual angka berat (untuk integritas audit)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5486400" cy="38404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Calibri"/>
              </a:rPr>
              <a:t>🎯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A0B0D"/>
                </a:solidFill>
                <a:latin typeface="Calibri"/>
              </a:rPr>
              <a:t>Akurasi OCR ≥ 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Mengapa harus tinggi?
• Operator TIDAK BOLEH ketik manual
• Salah 1 digit = transaksi salah
• Audit perlu data 100% match
• Confidence threshold di POC = 95%
• Jika di bawah → tombol SIMPAN terkunci
• Operator harus retake terus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560320"/>
            <a:ext cx="5486400" cy="38404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Calibri"/>
              </a:rPr>
              <a:t>📊 KENYATAAN SAAT 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DC2626"/>
                </a:solidFill>
                <a:latin typeface="Calibri"/>
              </a:rPr>
              <a:t>Akurasi 50-60%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5760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Hasil pengujian:
• Tesseract (OCR generic): ~50-65%
• CNN sintetis (baseline): ~60% (val), 50% (test)
• Pada display 7-segment industrial:
   tidak ada model publik yang capai 95%
• Plateau di sintetis — perlu data NYATA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1828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09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ANALISA TIMBANG · Mobile OCR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APA YANG SUDAH DIUJI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B0D"/>
                </a:solidFill>
                <a:latin typeface="Calibri"/>
              </a:rPr>
              <a:t>Synthetic Baseline Test (1 Mei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Validasi pipeline + arsitektur sebelum invest waktu kumpulkan data nyata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11064240" cy="457200"/>
          </a:xfrm>
          <a:prstGeom prst="rect">
            <a:avLst/>
          </a:prstGeom>
          <a:solidFill>
            <a:srgbClr val="0A0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EXPERIMENT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8346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8346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AKURASI 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28346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AKURASI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8346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Consolas"/>
              </a:rPr>
              <a:t>KESIMPULAN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11064240" cy="50292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192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Tesseract.js (eng)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3192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Real 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33192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33192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0/12 benar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31927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  <a:latin typeface="Calibri"/>
              </a:rPr>
              <a:t>❌ Generic OCR tidak cocok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0332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22191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Tesseract + ssd lang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822191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Real 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822191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79" y="3822191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1/12 (digit only)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822191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  <a:latin typeface="Calibri"/>
              </a:rPr>
              <a:t>❌ Sebagian digit benar, decimal hilang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06240"/>
            <a:ext cx="11064240" cy="50292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3251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Tesseract + letsgodigital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3251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Real 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43251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432511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Inkonsisten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32511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  <a:latin typeface="Calibri"/>
              </a:rPr>
              <a:t>❌ Hasil bervariasi liar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709160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8280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Custom CNN (synthetic)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48280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1k synthetic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59" y="48280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79" y="48280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50%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482803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97706"/>
                </a:solidFill>
                <a:latin typeface="Calibri"/>
              </a:rPr>
              <a:t>⚠ Plateau — butuh data nyata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212080"/>
            <a:ext cx="11064240" cy="50292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3309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Transfer Learning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5330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1k synthetic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59" y="5330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19%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79" y="533095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533095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  <a:latin typeface="Calibri"/>
              </a:rPr>
              <a:t>❌ Catastrophic forgetting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0B0D"/>
                </a:solidFill>
                <a:latin typeface="Calibri"/>
              </a:rPr>
              <a:t>💡 KESIMPULAN: Pipeline &amp; arsitektur SUDAH BENAR. Bottleneck = DATA NYATA dari merek timbangan target.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1828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10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ANALISA TIMBANG · Mobile OCR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DEMO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B0D"/>
                </a:solidFill>
                <a:latin typeface="Calibri"/>
              </a:rPr>
              <a:t>POC Sudah Bisa Diakses &amp; Diuji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11247120" cy="1463040"/>
          </a:xfrm>
          <a:prstGeom prst="rect">
            <a:avLst/>
          </a:prstGeom>
          <a:solidFill>
            <a:srgbClr val="0A0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onsolas"/>
              </a:rPr>
              <a:t>🌐  LIVE URL · DEPLOYED DI NETLIFY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E5E7EB"/>
                </a:solidFill>
                <a:latin typeface="Consolas"/>
              </a:rPr>
              <a:t>[masukkan URL Netlify Anda di sini]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Calibri"/>
              </a:rPr>
              <a:t>Bisa diakses di HP Android/iOS via browser · install ke home screen seperti aplikasi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5486400" cy="21945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onsolas"/>
              </a:rPr>
              <a:t>🔐 LOGIN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onsolas"/>
              </a:rPr>
              <a:t>Username: OP-2847
Password: demo
Operator: Budi Santoso
Entity: PT ANALISA INDUSTRI → PT MITRA LOGISTIK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5486400" cy="21945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519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onsolas"/>
              </a:rPr>
              <a:t>🧪 SKENARIO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1. Login
2. Tap MULAI TRANSAKSI
3. Scan QR (atau input manual ABCD1234)
4. Foto display timbangan
5. Lihat hasil OCR di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1828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11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ANALISA TIMBANG · Mobile OCR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BOTTLENECK SAAT 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B0D"/>
                </a:solidFill>
                <a:latin typeface="Calibri"/>
              </a:rPr>
              <a:t>Mengapa Belum 95%?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Synthetic data ≠ real-world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11247120" cy="1828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284C7"/>
                </a:solidFill>
                <a:latin typeface="Consolas"/>
              </a:rPr>
              <a:t>🎓  ANALOGI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Bayangkan murid belajar pakai contoh foto KTP yang dibuat di komputer (sintetis).
Saat ujian dengan KTP asli yang berbeda font, lighting, sudut → murid bingung.
Solusi: ajarkan dengan KTP NYATA yang sesuai kondisi lapangan.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5486400" cy="1828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Calibri"/>
              </a:rPr>
              <a:t>❌ DENGAN DATA SINTETIS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1.000 sintetis → akurasi 50-60%
• 10.000 sintetis → akurasi 65-70% (estimasi)
• Tidak akan capai 95% TANPA data nyata
• Variasi terbatas, tidak match realitas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572000"/>
            <a:ext cx="5486400" cy="1828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7091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✓ DENGAN DATA NYATA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12064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200 nyata &gt; 10.000 sintetis (kualitas)
• 500 nyata → estimasi akurasi 80-90%
• 1.000 nyata → estimasi akurasi 92-96%
• Match kondisi lapangan operator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1828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12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ANALISA TIMBANG · Mobile OCR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STRATEGI MAJU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B0D"/>
                </a:solidFill>
                <a:latin typeface="Calibri"/>
              </a:rPr>
              <a:t>Tiga Opsi untuk Capai Akurasi 95%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3657600" cy="4114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3657600" cy="5486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4203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nsolas"/>
              </a:rPr>
              <a:t>OPSI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B0D"/>
                </a:solidFill>
                <a:latin typeface="Calibri"/>
              </a:rPr>
              <a:t>Manual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Operator capture + ketik ground truth 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onsolas"/>
              </a:rPr>
              <a:t>Waktu: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4348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4-6 minggu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onsolas"/>
              </a:rPr>
              <a:t>Biaya: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754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Rendah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12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59669"/>
                </a:solidFill>
                <a:latin typeface="Calibri"/>
              </a:rPr>
              <a:t>+ Pure offline · Sesuai spec awal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32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  <a:latin typeface="Calibri"/>
              </a:rPr>
              <a:t>− Lambat · Operator effort tinggi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468880"/>
            <a:ext cx="3657600" cy="4114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2468880"/>
            <a:ext cx="365760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54203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nsolas"/>
              </a:rPr>
              <a:t>OPSI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108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B0D"/>
                </a:solidFill>
                <a:latin typeface="Calibri"/>
              </a:rPr>
              <a:t>Cloud OCR Public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61188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Pakai Google/AWS Vision API sebagai 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34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onsolas"/>
              </a:rPr>
              <a:t>Waktu: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79" y="44348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2-3 minggu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754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onsolas"/>
              </a:rPr>
              <a:t>Biaya: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79" y="4754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$300-1000/bulan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212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59669"/>
                </a:solidFill>
                <a:latin typeface="Calibri"/>
              </a:rPr>
              <a:t>+ Cepat · Auto-labeling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532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  <a:latin typeface="Calibri"/>
              </a:rPr>
              <a:t>− Privacy · Cost · Constraint violated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2468880"/>
            <a:ext cx="3657600" cy="4114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2468880"/>
            <a:ext cx="365760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19" y="254203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nsolas"/>
              </a:rPr>
              <a:t>OPSI D 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19" y="31089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A0B0D"/>
                </a:solidFill>
                <a:latin typeface="Calibri"/>
              </a:rPr>
              <a:t>Hybrid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3611880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Cloud bootstrap → Local CNN → Self-sufficient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19" y="4434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onsolas"/>
              </a:rPr>
              <a:t>Waktu: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4348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 minggu setup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19" y="4754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onsolas"/>
              </a:rPr>
              <a:t>Biaya: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754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Decreasing over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19" y="5212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59669"/>
                </a:solidFill>
                <a:latin typeface="Calibri"/>
              </a:rPr>
              <a:t>+ Best of both · Future-proof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19" y="5532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  <a:latin typeface="Calibri"/>
              </a:rPr>
              <a:t>− Initial complexity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1828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13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ANALISA TIMBANG · Mobile OCR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Consolas"/>
              </a:rPr>
              <a:t>REKOMENDASI · OPSI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0A0B0D"/>
                </a:solidFill>
                <a:latin typeface="Calibri"/>
              </a:rPr>
              <a:t>⭐  Hybrid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Cloud bootstrap → Local AI → Self-sufficient · 2-3 bulan ke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64008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2743200" cy="3108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Week 1-2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284C7"/>
                </a:solidFill>
                <a:latin typeface="Consolas"/>
              </a:rPr>
              <a:t>BOOTSTRAP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23774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Pakai Cloud OCR
untuk auto-labeling
→ Kumpulkan 1000+
ground truth real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606040"/>
            <a:ext cx="64008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606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383280"/>
            <a:ext cx="2743200" cy="3108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3520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Week 3-4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7947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Consolas"/>
              </a:rPr>
              <a:t>TRAIN CNN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343400"/>
            <a:ext cx="23774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Training local CNN
dengan data nyata
→ Akurasi 85-90%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606040"/>
            <a:ext cx="6400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606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383280"/>
            <a:ext cx="2743200" cy="3108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520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Month 2-3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7947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Consolas"/>
              </a:rPr>
              <a:t>REDUCE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343400"/>
            <a:ext cx="23774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Local CNN handle
80% kasus
→ Cloud cuma untuk
low-confidence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606040"/>
            <a:ext cx="640080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2606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A0B0D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3383280"/>
            <a:ext cx="2743200" cy="31089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3520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Month 4+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7947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Consolas"/>
              </a:rPr>
              <a:t>SELF-SUFFICIENT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343400"/>
            <a:ext cx="23774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Local CNN ≥ 95%
→ Drop cloud entirely
→ Pure offline
→ Constraint awal kembali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1828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14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ANALISA TIMBANG · Mobile OCR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CARA KERJA HYBRID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B0D"/>
                </a:solidFill>
                <a:latin typeface="Calibri"/>
              </a:rPr>
              <a:t>Operator Tetap UX Smooth, AI Improve di Background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1828800" cy="13716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Calibri"/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A0B0D"/>
                </a:solidFill>
                <a:latin typeface="Calibri"/>
              </a:rPr>
              <a:t>Operator
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468880"/>
            <a:ext cx="1828800" cy="13716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6517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Calibri"/>
              </a:rPr>
              <a:t>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46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A0B0D"/>
                </a:solidFill>
                <a:latin typeface="Calibri"/>
              </a:rPr>
              <a:t>Local AI
Baca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377440"/>
            <a:ext cx="2286000" cy="1554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560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A0B0D"/>
                </a:solidFill>
                <a:latin typeface="Calibri"/>
              </a:rPr>
              <a:t>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0175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A0B0D"/>
                </a:solidFill>
                <a:latin typeface="Calibri"/>
              </a:rPr>
              <a:t>≥ 95%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5603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Consolas"/>
              </a:rPr>
              <a:t>✓ YES (high conf)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2377440"/>
            <a:ext cx="228600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5603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💾 SAVE direct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3375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Consolas"/>
              </a:rPr>
              <a:t>⚠ NO (low conf)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3246120"/>
            <a:ext cx="228600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34290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☁ Cloud Fallback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11247120" cy="21945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📥 SAAT CLOUD FALLBACK: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091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1. Image dikirim ke Cloud OCR (Google Vision)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983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2. Cloud baca dengan akurasi 80-90%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257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3. Operator quick-confirm (✓ benar / ✗ edit)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5321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4. (image, ground_truth) disimpan ke training queue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5. Server kumpulkan → retrain CNN periodik → push update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6. Local CNN improve → cloud usage berkurang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1828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15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ANALISA TIMBANG · Mobile OCR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B0D"/>
                </a:solidFill>
                <a:latin typeface="Calibri"/>
              </a:rPr>
              <a:t>Roadmap 6 Bulan ke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633472"/>
            <a:ext cx="27432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47672" y="2926079"/>
            <a:ext cx="36576" cy="3657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0603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onsolas"/>
              </a:rPr>
              <a:t>Sekarang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560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0B0D"/>
                </a:solidFill>
                <a:latin typeface="Calibri"/>
              </a:rPr>
              <a:t>✅ POC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834639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Aplikasi siap, infrastruktur ready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227832"/>
            <a:ext cx="274320" cy="2743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47672" y="3520439"/>
            <a:ext cx="36576" cy="3657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0039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onsolas"/>
              </a:rPr>
              <a:t>Week 1-2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154679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0B0D"/>
                </a:solidFill>
                <a:latin typeface="Calibri"/>
              </a:rPr>
              <a:t>Setup Cloud 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428999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Integrasi Google Vision · Mode Training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822191"/>
            <a:ext cx="274320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47672" y="4114800"/>
            <a:ext cx="36576" cy="3657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9475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onsolas"/>
              </a:rPr>
              <a:t>Week 3-4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749039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0B0D"/>
                </a:solidFill>
                <a:latin typeface="Calibri"/>
              </a:rPr>
              <a:t>Bootstrap 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023359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Operator capture · auto-label via cloud · 1000+ samples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4416552"/>
            <a:ext cx="274320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47672" y="4709160"/>
            <a:ext cx="36576" cy="3657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3891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onsolas"/>
              </a:rPr>
              <a:t>Week 5-8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3434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0B0D"/>
                </a:solidFill>
                <a:latin typeface="Calibri"/>
              </a:rPr>
              <a:t>Train Local CNN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6177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Training dengan data nyata · target 85-90%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5010912"/>
            <a:ext cx="274320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47672" y="5303520"/>
            <a:ext cx="36576" cy="3657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9834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onsolas"/>
              </a:rPr>
              <a:t>Month 3-4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937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0B0D"/>
                </a:solidFill>
                <a:latin typeface="Calibri"/>
              </a:rPr>
              <a:t>Iterate &amp; Reduce Cloud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212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Akurasi naik, cloud usage turun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5605272"/>
            <a:ext cx="27432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5778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onsolas"/>
              </a:rPr>
              <a:t>Month 5-6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5321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0B0D"/>
                </a:solidFill>
                <a:latin typeface="Calibri"/>
              </a:rPr>
              <a:t>🎉 Production Ready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8064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Local CNN ≥ 95% · drop cloud · pure offline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1828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16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ANALISA TIMBANG · Mobile OCR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ESTIMASI BIAYA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B0D"/>
                </a:solidFill>
                <a:latin typeface="Calibri"/>
              </a:rPr>
              <a:t>Investasi vs Cost Reduction Over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11247120" cy="457200"/>
          </a:xfrm>
          <a:prstGeom prst="rect">
            <a:avLst/>
          </a:prstGeom>
          <a:solidFill>
            <a:srgbClr val="0A0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onsolas"/>
              </a:rPr>
              <a:t>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697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onsolas"/>
              </a:rPr>
              <a:t>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697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onsolas"/>
              </a:rPr>
              <a:t>ESTIMASI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11247120" cy="50292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278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Setup awal cloud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2278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1-2 minggu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32278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Consolas"/>
              </a:rPr>
              <a:t>Rp 15-25 juta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307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Cloud OCR Phase 1 (bulan 1-2)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7307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Heavy usage 50-70%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7307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Rp 5-10 jt/bulan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11247120" cy="50292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336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Cloud OCR Phase 2 (bulan 3-4)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2336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Reduced 20-30%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2336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Consolas"/>
              </a:rPr>
              <a:t>Rp 1-3 jt/bulan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1772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365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Cloud OCR Phase 3 (bulan 5+)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7365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Local CNN cukup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7365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59669"/>
                </a:solidFill>
                <a:latin typeface="Consolas"/>
              </a:rPr>
              <a:t>Rp 0-500 rb/bulan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11247120" cy="50292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2395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Train Real CNN (one-time)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23951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AI/ML Engineer 2 minggu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52395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Consolas"/>
              </a:rPr>
              <a:t>Rp 30 juta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2356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623560"/>
            <a:ext cx="1124712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7424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0B0D"/>
                </a:solidFill>
                <a:latin typeface="Calibri"/>
              </a:rPr>
              <a:t>Total Phase 0 (6 bulan)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7424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A0B0D"/>
                </a:solidFill>
                <a:latin typeface="Calibri"/>
              </a:rPr>
              <a:t>Setup + cloud +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57424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0B0D"/>
                </a:solidFill>
                <a:latin typeface="Consolas"/>
              </a:rPr>
              <a:t>Rp 80-100 juta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97706"/>
                </a:solidFill>
                <a:latin typeface="Calibri"/>
              </a:rPr>
              <a:t>💡  ROI: setelah local CNN matang, cost minimal forever. Investasi sekali, manfaat tahunan.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1828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17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ANALISA TIMBANG · Mobile OCR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MANFAAT &amp; RISIKO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B0D"/>
                </a:solidFill>
                <a:latin typeface="Calibri"/>
              </a:rPr>
              <a:t>Hybrid Strategy — Honest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5486400" cy="40233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548640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059669"/>
                </a:solidFill>
                <a:latin typeface="Calibri"/>
              </a:rPr>
              <a:t>✓ MANFAAT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🚀 Cepat ke production (2-3 bulan vs 4-6)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387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📊 Auto-labeling 100× lebih cepat dari manual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2277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💪 Operator tidak stuck di retake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06824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📈 Akurasi terus meningkat seiring waktu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9087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🎯 Future-proof: cloud temporary, local permanent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💰 Cost decreasing (invest now, save later)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5896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🔒 Migrasi ke fully offline saat siap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43016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📦 Reuse infrastructure yang sudah dibangun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468880"/>
            <a:ext cx="5486400" cy="402336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468880"/>
            <a:ext cx="548640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6060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Calibri"/>
              </a:rPr>
              <a:t>⚠ RISIKO + MITIGASI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54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Privacy: image kirim ke 3rd party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429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9669"/>
                </a:solidFill>
                <a:latin typeface="Consolas"/>
              </a:rPr>
              <a:t>→ Self-hosted server option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94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Network dependency awal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9669"/>
                </a:solidFill>
                <a:latin typeface="Consolas"/>
              </a:rPr>
              <a:t>→ Queue offline, sync saat online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34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Cost cloud (Phase 1-2)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7091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9669"/>
                </a:solidFill>
                <a:latin typeface="Consolas"/>
              </a:rPr>
              <a:t>→ Use only on low-conf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074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Cloud OCR tidak 100% akurat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349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9669"/>
                </a:solidFill>
                <a:latin typeface="Consolas"/>
              </a:rPr>
              <a:t>→ Operator confirm step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715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• Constraint awal di-relax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9893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9669"/>
                </a:solidFill>
                <a:latin typeface="Consolas"/>
              </a:rPr>
              <a:t>→ Temporary, kembali offline saat ready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1828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onsolas"/>
              </a:rPr>
              <a:t>18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onsolas"/>
              </a:rPr>
              <a:t>ANALISA TIMBANG · Mobile OCR PWA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  <a:latin typeface="Consolas"/>
              </a:rPr>
              <a:t>KEPUTUSAN DIPERLUKAN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0A0B0D"/>
                </a:solidFill>
                <a:latin typeface="Calibri"/>
              </a:rPr>
              <a:t>Apa Langkah Selanjutnya?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1247120" cy="201168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Calibri"/>
              </a:rPr>
              <a:t>✅  RECOMMENDED: Approve Opsi D (Hybrid Strategy)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☐  Relax constraint 'no cloud AI' SEMENTARA (akan kembali offline saat local CNN siap)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79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☐  Budget Rp 80-100 juta untuk Phase 0 (6 bulan, setup + cloud + training)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☐  Pilih provider: Google Vision (recommended) atau self-hosted (PaddleOCR di server)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☐  Assign AI/ML Engineer untuk eksekusi (full-time 6 bulan)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☐  Operator field collection mulai (Mode Training di POC sudah siap)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80"/>
            <a:ext cx="5486400" cy="1828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284C7"/>
                </a:solidFill>
                <a:latin typeface="Calibri"/>
              </a:rPr>
              <a:t>🔵 ALTERNATIF A: Manual Collection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• Operator capture + ketik ground truth
• Pure offline · sesuai constraint awal
• Lambat (4-6 minggu) tapi cost minimal
• Pilih jika privacy critical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526280"/>
            <a:ext cx="5486400" cy="1828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6634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Calibri"/>
              </a:rPr>
              <a:t>🔴 ALTERNATIF C: Self-Hosted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07492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• Server OCR sendiri (PaddleOCR)
• Privacy 100% · constraint preserved
• Setup Rp 30jt + Rp 3-5jt/bulan
• Pilih jika data sovereignty critical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solidFill>
            <a:srgbClr val="0A0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BBF24"/>
                </a:solidFill>
                <a:latin typeface="Consolas"/>
              </a:rPr>
              <a:t>Tunggu konfirmasi untuk lanjut · Hubungi Tim Engineering untuk diskusi detail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